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39" r:id="rId10"/>
    <p:sldId id="340" r:id="rId11"/>
    <p:sldId id="344" r:id="rId12"/>
    <p:sldId id="346" r:id="rId13"/>
    <p:sldId id="341"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5033" autoAdjust="0"/>
  </p:normalViewPr>
  <p:slideViewPr>
    <p:cSldViewPr snapToGrid="0">
      <p:cViewPr varScale="1">
        <p:scale>
          <a:sx n="82" d="100"/>
          <a:sy n="82" d="100"/>
        </p:scale>
        <p:origin x="87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1.png"/><Relationship Id="rId4" Type="http://schemas.openxmlformats.org/officeDocument/2006/relationships/image" Target="../media/image10.emf"/></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41819" y="4197613"/>
            <a:ext cx="4515239" cy="861497"/>
          </a:xfrm>
        </p:spPr>
        <p:txBody>
          <a:bodyPr vert="horz" lIns="91440" tIns="45720" rIns="91440" bIns="45720" rtlCol="0" anchor="t">
            <a:normAutofit/>
          </a:bodyPr>
          <a:lstStyle/>
          <a:p>
            <a:pPr algn="r"/>
            <a:r>
              <a:rPr lang="en-US" b="0" dirty="0">
                <a:solidFill>
                  <a:schemeClr val="tx1"/>
                </a:solidFill>
              </a:rPr>
              <a:t>Student Name-Narayana Meghana</a:t>
            </a:r>
          </a:p>
          <a:p>
            <a:pPr algn="r"/>
            <a:r>
              <a:rPr lang="en-US" b="0" dirty="0">
                <a:solidFill>
                  <a:schemeClr val="tx1"/>
                </a:solidFill>
              </a:rPr>
              <a:t>College Name-Loyola Academy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19722" y="2213652"/>
            <a:ext cx="4998720" cy="743448"/>
          </a:xfrm>
        </p:spPr>
        <p:txBody>
          <a:bodyPr>
            <a:normAutofit fontScale="90000"/>
          </a:bodyPr>
          <a:lstStyle/>
          <a:p>
            <a:br>
              <a:rPr lang="en-GB" sz="3200" dirty="0"/>
            </a:br>
            <a:r>
              <a:rPr lang="en-GB" sz="3200" dirty="0"/>
              <a:t>Project Title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06899" y="5359338"/>
            <a:ext cx="4053133" cy="646331"/>
          </a:xfrm>
          <a:prstGeom prst="rect">
            <a:avLst/>
          </a:prstGeom>
          <a:noFill/>
        </p:spPr>
        <p:txBody>
          <a:bodyPr wrap="square" rtlCol="0">
            <a:spAutoFit/>
          </a:bodyPr>
          <a:lstStyle/>
          <a:p>
            <a:r>
              <a:rPr lang="en-US" b="1" dirty="0"/>
              <a:t>AICTE STU ID :</a:t>
            </a:r>
            <a:r>
              <a:rPr lang="en-IN" dirty="0"/>
              <a:t>STU6a057be19014c1778744289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11998" y="1763589"/>
            <a:ext cx="6431280" cy="3607987"/>
          </a:xfrm>
        </p:spPr>
        <p:txBody>
          <a:bodyPr vert="horz" lIns="91440" tIns="45720" rIns="91440" bIns="45720" rtlCol="0" anchor="t">
            <a:normAutofit fontScale="70000" lnSpcReduction="20000"/>
          </a:bodyPr>
          <a:lstStyle/>
          <a:p>
            <a:pPr>
              <a:lnSpc>
                <a:spcPct val="100000"/>
              </a:lnSpc>
            </a:pPr>
            <a:r>
              <a:rPr lang="en-IN" sz="2800" dirty="0">
                <a:solidFill>
                  <a:schemeClr val="tx1"/>
                </a:solidFill>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solidFill>
                  <a:schemeClr val="tx1"/>
                </a:solidFill>
              </a:rPr>
              <a:t>analyze</a:t>
            </a:r>
            <a:r>
              <a:rPr lang="en-IN" sz="2800" dirty="0">
                <a:solidFill>
                  <a:schemeClr val="tx1"/>
                </a:solidFill>
              </a:rPr>
              <a:t>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IN" sz="1800" dirty="0">
                <a:latin typeface="+mn-lt"/>
              </a:rPr>
              <a:t>This project </a:t>
            </a:r>
            <a:r>
              <a:rPr lang="en-IN" sz="1800" dirty="0" err="1">
                <a:latin typeface="+mn-lt"/>
              </a:rPr>
              <a:t>analyzes</a:t>
            </a:r>
            <a:r>
              <a:rPr lang="en-IN" sz="1800" dirty="0">
                <a:latin typeface="+mn-lt"/>
              </a:rPr>
              <a:t> agricultural data representing activities carried out across different seasons, geographical areas, and farming conditions. The dataset contains information on farming practices, environmental factors, crop production, resource usage, and economic performance. The primary objective is to clean and prepare the data to examine how performance varies across seasons, investigate relationships between seasonal conditions and agricultural outcomes, and identify unusual patterns. By applying appropriate statistical and visualization techniques, this project aims to develop data-driven recommendations and meaningful conclusions. The complete analysis is documented in a Jupyter Notebook.</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lvl="0"/>
            <a:r>
              <a:rPr lang="en-IN" b="1" dirty="0">
                <a:solidFill>
                  <a:schemeClr val="tx1"/>
                </a:solidFill>
              </a:rPr>
              <a:t>Agricultural Stakeholders:</a:t>
            </a:r>
            <a:r>
              <a:rPr lang="en-IN" dirty="0">
                <a:solidFill>
                  <a:schemeClr val="tx1"/>
                </a:solidFill>
              </a:rPr>
              <a:t> To understand variations in agricultural performance and identify important seasonal trends. </a:t>
            </a:r>
          </a:p>
          <a:p>
            <a:pPr lvl="0"/>
            <a:r>
              <a:rPr lang="en-IN" b="1" dirty="0">
                <a:solidFill>
                  <a:schemeClr val="tx1"/>
                </a:solidFill>
              </a:rPr>
              <a:t>Planners &amp; Policymakers:</a:t>
            </a:r>
            <a:r>
              <a:rPr lang="en-IN" dirty="0">
                <a:solidFill>
                  <a:schemeClr val="tx1"/>
                </a:solidFill>
              </a:rPr>
              <a:t> To support evidence-based agricultural planning by comparing performance across different periods. </a:t>
            </a:r>
          </a:p>
          <a:p>
            <a:pPr lvl="0"/>
            <a:r>
              <a:rPr lang="en-IN" b="1" dirty="0">
                <a:solidFill>
                  <a:schemeClr val="tx1"/>
                </a:solidFill>
              </a:rPr>
              <a:t>Farmers &amp; Resource Managers:</a:t>
            </a:r>
            <a:r>
              <a:rPr lang="en-IN" dirty="0">
                <a:solidFill>
                  <a:schemeClr val="tx1"/>
                </a:solidFill>
              </a:rPr>
              <a:t> To examine differences in resource usage and understand changing environmental conditions across seasons. </a:t>
            </a:r>
          </a:p>
          <a:p>
            <a:pPr algn="just">
              <a:lnSpc>
                <a:spcPct val="150000"/>
              </a:lnSpc>
            </a:pP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778000" y="1463105"/>
            <a:ext cx="9027702" cy="5243448"/>
          </a:xfrm>
        </p:spPr>
        <p:txBody>
          <a:bodyPr/>
          <a:lstStyle/>
          <a:p>
            <a:pPr lvl="0"/>
            <a:r>
              <a:rPr lang="en-IN" b="1" dirty="0">
                <a:solidFill>
                  <a:schemeClr val="tx1"/>
                </a:solidFill>
              </a:rPr>
              <a:t>Python:</a:t>
            </a:r>
            <a:r>
              <a:rPr lang="en-IN" dirty="0">
                <a:solidFill>
                  <a:schemeClr val="tx1"/>
                </a:solidFill>
              </a:rPr>
              <a:t> The core programming language used for data manipulation and analysis.</a:t>
            </a:r>
          </a:p>
          <a:p>
            <a:pPr lvl="0"/>
            <a:r>
              <a:rPr lang="en-IN" b="1" dirty="0">
                <a:solidFill>
                  <a:schemeClr val="tx1"/>
                </a:solidFill>
              </a:rPr>
              <a:t>Jupyter Notebook:</a:t>
            </a:r>
            <a:r>
              <a:rPr lang="en-IN" dirty="0">
                <a:solidFill>
                  <a:schemeClr val="tx1"/>
                </a:solidFill>
              </a:rPr>
              <a:t> For documenting the complete analysis, code execution, and insights. </a:t>
            </a:r>
          </a:p>
          <a:p>
            <a:pPr lvl="0"/>
            <a:r>
              <a:rPr lang="en-IN" b="1" dirty="0">
                <a:solidFill>
                  <a:schemeClr val="tx1"/>
                </a:solidFill>
              </a:rPr>
              <a:t>Pandas:</a:t>
            </a:r>
            <a:r>
              <a:rPr lang="en-IN" dirty="0">
                <a:solidFill>
                  <a:schemeClr val="tx1"/>
                </a:solidFill>
              </a:rPr>
              <a:t> For loading, cleaning, and preparing the seasonal agricultural data. </a:t>
            </a:r>
          </a:p>
          <a:p>
            <a:pPr lvl="0"/>
            <a:r>
              <a:rPr lang="en-IN" b="1" dirty="0">
                <a:solidFill>
                  <a:schemeClr val="tx1"/>
                </a:solidFill>
              </a:rPr>
              <a:t>Matplotlib &amp; Seaborn:</a:t>
            </a:r>
            <a:r>
              <a:rPr lang="en-IN" dirty="0">
                <a:solidFill>
                  <a:schemeClr val="tx1"/>
                </a:solidFill>
              </a:rPr>
              <a:t> For applying appropriate visualization techniques to identify patterns and trends</a:t>
            </a:r>
            <a:r>
              <a:rPr lang="en-IN" dirty="0"/>
              <a: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5183898" y="1218072"/>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054FC1C-03B2-BEF3-59AE-D1B191D8E3AB}"/>
              </a:ext>
            </a:extLst>
          </p:cNvPr>
          <p:cNvPicPr>
            <a:picLocks noChangeAspect="1"/>
          </p:cNvPicPr>
          <p:nvPr/>
        </p:nvPicPr>
        <p:blipFill>
          <a:blip r:embed="rId3"/>
          <a:stretch>
            <a:fillRect/>
          </a:stretch>
        </p:blipFill>
        <p:spPr>
          <a:xfrm>
            <a:off x="1021079" y="2496945"/>
            <a:ext cx="8196701" cy="4168015"/>
          </a:xfrm>
          <a:prstGeom prst="rect">
            <a:avLst/>
          </a:prstGeom>
        </p:spPr>
      </p:pic>
      <p:sp>
        <p:nvSpPr>
          <p:cNvPr id="6" name="TextBox 5">
            <a:extLst>
              <a:ext uri="{FF2B5EF4-FFF2-40B4-BE49-F238E27FC236}">
                <a16:creationId xmlns:a16="http://schemas.microsoft.com/office/drawing/2014/main" id="{A7D8B2CF-A0FE-3D3F-D647-45010FF3CE69}"/>
              </a:ext>
            </a:extLst>
          </p:cNvPr>
          <p:cNvSpPr txBox="1"/>
          <p:nvPr/>
        </p:nvSpPr>
        <p:spPr>
          <a:xfrm>
            <a:off x="453897" y="1201586"/>
            <a:ext cx="6243003" cy="1221574"/>
          </a:xfrm>
          <a:prstGeom prst="rect">
            <a:avLst/>
          </a:prstGeom>
          <a:noFill/>
        </p:spPr>
        <p:txBody>
          <a:bodyPr wrap="square" rtlCol="0">
            <a:spAutoFit/>
          </a:bodyPr>
          <a:lstStyle/>
          <a:p>
            <a:r>
              <a:rPr lang="en-IN" dirty="0"/>
              <a:t>This bar chart compares the </a:t>
            </a:r>
            <a:r>
              <a:rPr lang="en-IN" b="1" dirty="0"/>
              <a:t>average yield (Tonnes/Ha)</a:t>
            </a:r>
            <a:r>
              <a:rPr lang="en-IN" dirty="0"/>
              <a:t> across the three major agricultural seasons — </a:t>
            </a:r>
            <a:r>
              <a:rPr lang="en-IN" b="1" dirty="0"/>
              <a:t>Kharif, Rabi, and Zaid</a:t>
            </a:r>
            <a:r>
              <a:rPr lang="en-IN" dirty="0"/>
              <a:t>. It shows that </a:t>
            </a:r>
            <a:r>
              <a:rPr lang="en-IN" b="1" dirty="0"/>
              <a:t>Kharif</a:t>
            </a:r>
            <a:r>
              <a:rPr lang="en-IN" dirty="0"/>
              <a:t> has the highest yield, followed by </a:t>
            </a:r>
            <a:r>
              <a:rPr lang="en-IN" b="1" dirty="0"/>
              <a:t>Rabi</a:t>
            </a:r>
            <a:r>
              <a:rPr lang="en-IN" dirty="0"/>
              <a:t>, while </a:t>
            </a:r>
            <a:r>
              <a:rPr lang="en-IN" b="1" dirty="0"/>
              <a:t>Zaid</a:t>
            </a:r>
            <a:r>
              <a:rPr lang="en-IN" dirty="0"/>
              <a:t> records the lowest.</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3" y="1431693"/>
            <a:ext cx="4766031" cy="509756"/>
          </a:xfrm>
        </p:spPr>
        <p:txBody>
          <a:bodyPr>
            <a:normAutofit fontScale="55000" lnSpcReduction="20000"/>
          </a:bodyPr>
          <a:lstStyle/>
          <a:p>
            <a:pPr marL="0" indent="0">
              <a:buNone/>
            </a:pPr>
            <a:r>
              <a:rPr lang="en-IN" dirty="0"/>
              <a:t>The pie chart displays the </a:t>
            </a:r>
            <a:r>
              <a:rPr lang="en-IN" b="1" dirty="0"/>
              <a:t>distribution of agricultural records</a:t>
            </a:r>
            <a:r>
              <a:rPr lang="en-IN" dirty="0"/>
              <a:t> among seasons. </a:t>
            </a:r>
            <a:r>
              <a:rPr lang="en-IN" b="1" dirty="0"/>
              <a:t>Kharif</a:t>
            </a:r>
            <a:r>
              <a:rPr lang="en-IN" dirty="0"/>
              <a:t> dominates with </a:t>
            </a:r>
            <a:r>
              <a:rPr lang="en-IN" b="1" dirty="0"/>
              <a:t>44.5%</a:t>
            </a:r>
            <a:r>
              <a:rPr lang="en-IN" dirty="0"/>
              <a:t>, </a:t>
            </a:r>
            <a:r>
              <a:rPr lang="en-IN" b="1" dirty="0"/>
              <a:t>Rabi</a:t>
            </a:r>
            <a:r>
              <a:rPr lang="en-IN" dirty="0"/>
              <a:t> follows with </a:t>
            </a:r>
            <a:r>
              <a:rPr lang="en-IN" b="1" dirty="0"/>
              <a:t>40.7%</a:t>
            </a:r>
            <a:r>
              <a:rPr lang="en-IN" dirty="0"/>
              <a:t>, and </a:t>
            </a:r>
            <a:r>
              <a:rPr lang="en-IN" b="1" dirty="0"/>
              <a:t>Zaid</a:t>
            </a:r>
            <a:r>
              <a:rPr lang="en-IN" dirty="0"/>
              <a:t> contributes </a:t>
            </a:r>
            <a:r>
              <a:rPr lang="en-IN" b="1" dirty="0"/>
              <a:t>14.8%</a:t>
            </a:r>
            <a:r>
              <a:rPr lang="en-IN" dirty="0"/>
              <a:t>.</a:t>
            </a:r>
          </a:p>
        </p:txBody>
      </p:sp>
      <p:pic>
        <p:nvPicPr>
          <p:cNvPr id="3" name="Picture 2">
            <a:extLst>
              <a:ext uri="{FF2B5EF4-FFF2-40B4-BE49-F238E27FC236}">
                <a16:creationId xmlns:a16="http://schemas.microsoft.com/office/drawing/2014/main" id="{F4CA1359-32CB-06E0-792C-571EE02217CB}"/>
              </a:ext>
            </a:extLst>
          </p:cNvPr>
          <p:cNvPicPr>
            <a:picLocks noChangeAspect="1"/>
          </p:cNvPicPr>
          <p:nvPr/>
        </p:nvPicPr>
        <p:blipFill>
          <a:blip r:embed="rId3"/>
          <a:stretch>
            <a:fillRect/>
          </a:stretch>
        </p:blipFill>
        <p:spPr>
          <a:xfrm>
            <a:off x="1329969" y="2277084"/>
            <a:ext cx="4766031" cy="421032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321982"/>
            <a:ext cx="4633516" cy="912425"/>
          </a:xfrm>
        </p:spPr>
        <p:txBody>
          <a:bodyPr>
            <a:normAutofit fontScale="62500" lnSpcReduction="20000"/>
          </a:bodyPr>
          <a:lstStyle/>
          <a:p>
            <a:pPr marL="0" indent="0">
              <a:buNone/>
            </a:pPr>
            <a:r>
              <a:rPr lang="en-IN" dirty="0"/>
              <a:t>This heatmap visualizes how different </a:t>
            </a:r>
            <a:r>
              <a:rPr lang="en-IN" b="1" dirty="0"/>
              <a:t>crops</a:t>
            </a:r>
            <a:r>
              <a:rPr lang="en-IN" dirty="0"/>
              <a:t> are grown across </a:t>
            </a:r>
            <a:r>
              <a:rPr lang="en-IN" b="1" dirty="0"/>
              <a:t>Kharif, Rabi, and Zaid</a:t>
            </a:r>
            <a:r>
              <a:rPr lang="en-IN" dirty="0"/>
              <a:t> seasons. Darker shades indicate higher counts — crops like </a:t>
            </a:r>
            <a:r>
              <a:rPr lang="en-IN" b="1" dirty="0"/>
              <a:t>Rice</a:t>
            </a:r>
            <a:r>
              <a:rPr lang="en-IN" dirty="0"/>
              <a:t> and </a:t>
            </a:r>
            <a:r>
              <a:rPr lang="en-IN" b="1" dirty="0"/>
              <a:t>Wheat</a:t>
            </a:r>
            <a:r>
              <a:rPr lang="en-IN" dirty="0"/>
              <a:t> are widely cultivated, while </a:t>
            </a:r>
            <a:r>
              <a:rPr lang="en-IN" b="1" dirty="0"/>
              <a:t>Sugarcane</a:t>
            </a:r>
            <a:r>
              <a:rPr lang="en-IN" dirty="0"/>
              <a:t> and </a:t>
            </a:r>
            <a:r>
              <a:rPr lang="en-IN" b="1" dirty="0"/>
              <a:t>Groundnut</a:t>
            </a:r>
            <a:r>
              <a:rPr lang="en-IN" dirty="0"/>
              <a:t> have lower distributions.</a:t>
            </a:r>
          </a:p>
        </p:txBody>
      </p:sp>
      <p:pic>
        <p:nvPicPr>
          <p:cNvPr id="3" name="Picture 2">
            <a:extLst>
              <a:ext uri="{FF2B5EF4-FFF2-40B4-BE49-F238E27FC236}">
                <a16:creationId xmlns:a16="http://schemas.microsoft.com/office/drawing/2014/main" id="{E2A9368F-8BED-A732-1400-3CE1F7BD5EC3}"/>
              </a:ext>
            </a:extLst>
          </p:cNvPr>
          <p:cNvPicPr>
            <a:picLocks noChangeAspect="1"/>
          </p:cNvPicPr>
          <p:nvPr/>
        </p:nvPicPr>
        <p:blipFill>
          <a:blip r:embed="rId3"/>
          <a:stretch>
            <a:fillRect/>
          </a:stretch>
        </p:blipFill>
        <p:spPr>
          <a:xfrm>
            <a:off x="320982" y="2354805"/>
            <a:ext cx="9631072" cy="399671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176827"/>
            <a:ext cx="4846876" cy="732386"/>
          </a:xfrm>
        </p:spPr>
        <p:txBody>
          <a:bodyPr>
            <a:normAutofit fontScale="62500" lnSpcReduction="20000"/>
          </a:bodyPr>
          <a:lstStyle/>
          <a:p>
            <a:pPr marL="0" indent="0">
              <a:buNone/>
            </a:pPr>
            <a:r>
              <a:rPr lang="en-IN" dirty="0"/>
              <a:t>The grouped bar chart compares </a:t>
            </a:r>
            <a:r>
              <a:rPr lang="en-IN" b="1" dirty="0"/>
              <a:t>Total Cost, Revenue, and Profit (INR)</a:t>
            </a:r>
            <a:r>
              <a:rPr lang="en-IN" dirty="0"/>
              <a:t> for each season. </a:t>
            </a:r>
            <a:r>
              <a:rPr lang="en-IN" b="1" dirty="0"/>
              <a:t>Kharif</a:t>
            </a:r>
            <a:r>
              <a:rPr lang="en-IN" dirty="0"/>
              <a:t> yields the highest profit, </a:t>
            </a:r>
            <a:r>
              <a:rPr lang="en-IN" b="1" dirty="0"/>
              <a:t>Rabi</a:t>
            </a:r>
            <a:r>
              <a:rPr lang="en-IN" dirty="0"/>
              <a:t> moderate, and </a:t>
            </a:r>
            <a:r>
              <a:rPr lang="en-IN" b="1" dirty="0"/>
              <a:t>Zaid</a:t>
            </a:r>
            <a:r>
              <a:rPr lang="en-IN" dirty="0"/>
              <a:t> the lowest — possibly due to reduced yield or higher costs.</a:t>
            </a:r>
          </a:p>
        </p:txBody>
      </p:sp>
      <p:pic>
        <p:nvPicPr>
          <p:cNvPr id="3" name="Picture 2">
            <a:extLst>
              <a:ext uri="{FF2B5EF4-FFF2-40B4-BE49-F238E27FC236}">
                <a16:creationId xmlns:a16="http://schemas.microsoft.com/office/drawing/2014/main" id="{F3C22DAF-EE4B-6789-D089-46D1A67C174D}"/>
              </a:ext>
            </a:extLst>
          </p:cNvPr>
          <p:cNvPicPr>
            <a:picLocks noChangeAspect="1"/>
          </p:cNvPicPr>
          <p:nvPr/>
        </p:nvPicPr>
        <p:blipFill>
          <a:blip r:embed="rId3"/>
          <a:stretch>
            <a:fillRect/>
          </a:stretch>
        </p:blipFill>
        <p:spPr>
          <a:xfrm>
            <a:off x="320982" y="2097771"/>
            <a:ext cx="7817178" cy="466573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CAB56543-C984-89FB-1430-DA178452BFBB}"/>
              </a:ext>
            </a:extLst>
          </p:cNvPr>
          <p:cNvSpPr txBox="1"/>
          <p:nvPr/>
        </p:nvSpPr>
        <p:spPr>
          <a:xfrm>
            <a:off x="480014" y="1630616"/>
            <a:ext cx="6102220" cy="2862322"/>
          </a:xfrm>
          <a:prstGeom prst="rect">
            <a:avLst/>
          </a:prstGeom>
          <a:noFill/>
        </p:spPr>
        <p:txBody>
          <a:bodyPr wrap="square">
            <a:spAutoFit/>
          </a:bodyPr>
          <a:lstStyle/>
          <a:p>
            <a:pPr marL="342900" lvl="0" indent="-342900">
              <a:buFont typeface="Arial" panose="020B0604020202020204" pitchFamily="34" charset="0"/>
              <a:buChar char="•"/>
            </a:pPr>
            <a:r>
              <a:rPr lang="en-IN" sz="2000" dirty="0">
                <a:effectLst/>
                <a:latin typeface="+mn-lt"/>
              </a:rPr>
              <a:t>Investigate whether these seasonal patterns are consistent across different specific regions and districts. </a:t>
            </a:r>
          </a:p>
          <a:p>
            <a:pPr marL="342900" lvl="0" indent="-342900">
              <a:buFont typeface="Arial" panose="020B0604020202020204" pitchFamily="34" charset="0"/>
              <a:buChar char="•"/>
            </a:pPr>
            <a:r>
              <a:rPr lang="en-IN" sz="2000" dirty="0" err="1">
                <a:effectLst/>
                <a:latin typeface="+mn-lt"/>
              </a:rPr>
              <a:t>Analyze</a:t>
            </a:r>
            <a:r>
              <a:rPr lang="en-IN" sz="2000" dirty="0">
                <a:effectLst/>
                <a:latin typeface="+mn-lt"/>
              </a:rPr>
              <a:t> the direct relationships between seasonal environmental conditions (like rainfall and temperature) and agricultural performance. </a:t>
            </a:r>
          </a:p>
          <a:p>
            <a:pPr marL="342900" lvl="0" indent="-342900">
              <a:buFont typeface="Arial" panose="020B0604020202020204" pitchFamily="34" charset="0"/>
              <a:buChar char="•"/>
            </a:pPr>
            <a:r>
              <a:rPr lang="en-IN" sz="2000" dirty="0">
                <a:effectLst/>
                <a:latin typeface="+mn-lt"/>
              </a:rPr>
              <a:t>Explore how to use these findings to support better seasonal agricultural planning and optimize resource usage across seasons. </a:t>
            </a:r>
            <a:endParaRPr lang="en-IN" sz="2000" dirty="0">
              <a:effectLst/>
              <a:latin typeface="Google Sans Text"/>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https://github.com/meghana1209-06/Seasonal-Agriculture-Performance-Analysis.git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graphicFrame>
        <p:nvGraphicFramePr>
          <p:cNvPr id="2" name="Object 1">
            <a:extLst>
              <a:ext uri="{FF2B5EF4-FFF2-40B4-BE49-F238E27FC236}">
                <a16:creationId xmlns:a16="http://schemas.microsoft.com/office/drawing/2014/main" id="{979CD243-1C29-3E03-6640-1DFFF0F7F1AC}"/>
              </a:ext>
            </a:extLst>
          </p:cNvPr>
          <p:cNvGraphicFramePr>
            <a:graphicFrameLocks noChangeAspect="1"/>
          </p:cNvGraphicFramePr>
          <p:nvPr>
            <p:extLst>
              <p:ext uri="{D42A27DB-BD31-4B8C-83A1-F6EECF244321}">
                <p14:modId xmlns:p14="http://schemas.microsoft.com/office/powerpoint/2010/main" val="1315796826"/>
              </p:ext>
            </p:extLst>
          </p:nvPr>
        </p:nvGraphicFramePr>
        <p:xfrm>
          <a:off x="7689255" y="671804"/>
          <a:ext cx="898525" cy="540871"/>
        </p:xfrm>
        <a:graphic>
          <a:graphicData uri="http://schemas.openxmlformats.org/presentationml/2006/ole">
            <mc:AlternateContent xmlns:mc="http://schemas.openxmlformats.org/markup-compatibility/2006">
              <mc:Choice xmlns:v="urn:schemas-microsoft-com:vml" Requires="v">
                <p:oleObj name="Packager Shell Object" showAsIcon="1" r:id="rId3" imgW="899089" imgH="518081" progId="Package">
                  <p:embed/>
                </p:oleObj>
              </mc:Choice>
              <mc:Fallback>
                <p:oleObj name="Packager Shell Object" showAsIcon="1" r:id="rId3" imgW="899089" imgH="518081" progId="Package">
                  <p:embed/>
                  <p:pic>
                    <p:nvPicPr>
                      <p:cNvPr id="0" name=""/>
                      <p:cNvPicPr/>
                      <p:nvPr/>
                    </p:nvPicPr>
                    <p:blipFill>
                      <a:blip r:embed="rId4"/>
                      <a:stretch>
                        <a:fillRect/>
                      </a:stretch>
                    </p:blipFill>
                    <p:spPr>
                      <a:xfrm>
                        <a:off x="7689255" y="671804"/>
                        <a:ext cx="898525" cy="540871"/>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BC3392DA-7ECB-AA69-A790-CD0280CF9540}"/>
              </a:ext>
            </a:extLst>
          </p:cNvPr>
          <p:cNvPicPr>
            <a:picLocks noChangeAspect="1"/>
          </p:cNvPicPr>
          <p:nvPr/>
        </p:nvPicPr>
        <p:blipFill>
          <a:blip r:embed="rId5"/>
          <a:stretch>
            <a:fillRect/>
          </a:stretch>
        </p:blipFill>
        <p:spPr>
          <a:xfrm>
            <a:off x="553476" y="1608410"/>
            <a:ext cx="8805128" cy="479239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81184" y="3262457"/>
            <a:ext cx="11340000" cy="700114"/>
          </a:xfrm>
          <a:prstGeom prst="rect">
            <a:avLst/>
          </a:prstGeom>
        </p:spPr>
        <p:txBody>
          <a:bodyPr anchor="ctr">
            <a:noAutofit/>
          </a:bodyPr>
          <a:lstStyle/>
          <a:p>
            <a:pPr algn="ctr"/>
            <a:r>
              <a:rPr lang="en-US" sz="72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1384</TotalTime>
  <Words>574</Words>
  <Application>Microsoft Office PowerPoint</Application>
  <PresentationFormat>Widescreen</PresentationFormat>
  <Paragraphs>35</Paragraphs>
  <Slides>13</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1" baseType="lpstr">
      <vt:lpstr>Arial</vt:lpstr>
      <vt:lpstr>Calibri</vt:lpstr>
      <vt:lpstr>Google Sans Text</vt:lpstr>
      <vt:lpstr>Trebuchet MS</vt:lpstr>
      <vt:lpstr>Wingdings</vt:lpstr>
      <vt:lpstr>Wingdings 3</vt:lpstr>
      <vt:lpstr>Facet</vt:lpstr>
      <vt:lpstr>Package</vt:lpstr>
      <vt:lpstr> Project Title -Seasonal Agriculture Performance Analysis</vt:lpstr>
      <vt:lpstr>PROBLEM  STATEMENT</vt:lpstr>
      <vt:lpstr>Project Description  This project analyzes agricultural data representing activities carried out across different seasons, geographical areas, and farming conditions. The dataset contains information on farming practices, environmental factors, crop production, resource usage, and economic performance. The primary objective is to clean and prepare the data to examine how performance varies across seasons, investigate relationships between seasonal conditions and agricultural outcomes, and identify unusual patterns. By applying appropriate statistical and visualization techniques, this project aims to develop data-driven recommendations and meaningful conclusions. The complete analysis is documented in a Jupyter Notebook.</vt:lpstr>
      <vt:lpstr>WHO ARE THE END USERS?</vt:lpstr>
      <vt:lpstr>Technology Used</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murari narayana</cp:lastModifiedBy>
  <cp:revision>101</cp:revision>
  <dcterms:created xsi:type="dcterms:W3CDTF">2021-07-11T13:13:15Z</dcterms:created>
  <dcterms:modified xsi:type="dcterms:W3CDTF">2026-09-10T09:01:29Z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